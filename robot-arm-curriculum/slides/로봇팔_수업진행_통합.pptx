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16204A"/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4937760"/>
            <a:ext cx="3474720" cy="3474720"/>
          </a:xfrm>
          <a:prstGeom prst="ellipse">
            <a:avLst/>
          </a:prstGeom>
          <a:solidFill>
            <a:srgbClr val="16204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31520"/>
            <a:ext cx="1371600" cy="1371600"/>
          </a:xfrm>
          <a:prstGeom prst="ellipse">
            <a:avLst/>
          </a:prstGeom>
          <a:solidFill>
            <a:srgbClr val="E76F23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7315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🤖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46888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FA6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진로수업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아두이노 6자유도 로봇팔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로봇팔로 배우는 스마트 자동화 · 진로 탐색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6F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2시간 × 6회  ·  하나씩 완성해 가는 성취형 수업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 로드맵 — 6회의 여정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 회차마다 '오늘 완성한 것'을 손에 쥐고 돌아갑니다.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2240280"/>
          </a:xfrm>
          <a:prstGeom prst="roundRect">
            <a:avLst>
              <a:gd name="adj" fmla="val 3673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93392"/>
            <a:ext cx="777240" cy="777240"/>
          </a:xfrm>
          <a:prstGeom prst="ellipse">
            <a:avLst/>
          </a:prstGeom>
          <a:solidFill>
            <a:srgbClr val="1F6FEB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99339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691640" y="20116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로봇팔을 내 손으로 움직인다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완성: 조종 + 관절 지도 완성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416552" y="1737360"/>
            <a:ext cx="3611880" cy="2240280"/>
          </a:xfrm>
          <a:prstGeom prst="roundRect">
            <a:avLst>
              <a:gd name="adj" fmla="val 3673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45152" y="1993392"/>
            <a:ext cx="777240" cy="777240"/>
          </a:xfrm>
          <a:prstGeom prst="ellipse">
            <a:avLst/>
          </a:prstGeom>
          <a:solidFill>
            <a:srgbClr val="E76F23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45152" y="199339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559552" y="20116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코드를 읽고 내 팔로 길들인다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90872" y="31089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완성: 안정 홈 자세 세팅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84464" y="1737360"/>
            <a:ext cx="3611880" cy="2240280"/>
          </a:xfrm>
          <a:prstGeom prst="roundRect">
            <a:avLst>
              <a:gd name="adj" fmla="val 3673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13064" y="1993392"/>
            <a:ext cx="777240" cy="777240"/>
          </a:xfrm>
          <a:prstGeom prst="ellipse">
            <a:avLst/>
          </a:prstGeom>
          <a:solidFill>
            <a:srgbClr val="1F6FEB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513064" y="199339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427464" y="20116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물건을 집어 옮긴다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58784" y="31089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완성: 수동 Pick &amp; Place 성공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48640" y="4251960"/>
            <a:ext cx="3611880" cy="2240280"/>
          </a:xfrm>
          <a:prstGeom prst="roundRect">
            <a:avLst>
              <a:gd name="adj" fmla="val 3673"/>
            </a:avLst>
          </a:prstGeom>
          <a:solidFill>
            <a:srgbClr val="F2F7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507992"/>
            <a:ext cx="777240" cy="777240"/>
          </a:xfrm>
          <a:prstGeom prst="ellipse">
            <a:avLst/>
          </a:prstGeom>
          <a:solidFill>
            <a:srgbClr val="E76F23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450799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691640" y="45262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로봇과 대화하고 기록한다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22960" y="56235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완성: 포즈 데이터 완성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4416552" y="4251960"/>
            <a:ext cx="3611880" cy="2240280"/>
          </a:xfrm>
          <a:prstGeom prst="roundRect">
            <a:avLst>
              <a:gd name="adj" fmla="val 3673"/>
            </a:avLst>
          </a:prstGeom>
          <a:solidFill>
            <a:srgbClr val="F2F7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45152" y="4507992"/>
            <a:ext cx="777240" cy="777240"/>
          </a:xfrm>
          <a:prstGeom prst="ellipse">
            <a:avLst/>
          </a:prstGeom>
          <a:solidFill>
            <a:srgbClr val="1F6FEB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645152" y="450799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5559552" y="45262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함수로 자동화한다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690872" y="56235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완성: 버튼 원클릭 자동화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8284464" y="4251960"/>
            <a:ext cx="3611880" cy="2240280"/>
          </a:xfrm>
          <a:prstGeom prst="roundRect">
            <a:avLst>
              <a:gd name="adj" fmla="val 3673"/>
            </a:avLst>
          </a:prstGeom>
          <a:solidFill>
            <a:srgbClr val="F2F7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513064" y="4507992"/>
            <a:ext cx="777240" cy="777240"/>
          </a:xfrm>
          <a:prstGeom prst="ellipse">
            <a:avLst/>
          </a:prstGeom>
          <a:solidFill>
            <a:srgbClr val="E76F23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513064" y="450799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9427464" y="45262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나만의 미션 &amp; 데모데이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558784" y="56235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완성: 작품 완성 + 진로 발표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 · 하드웨어 기준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035040" cy="1051560"/>
          </a:xfrm>
          <a:prstGeom prst="roundRect">
            <a:avLst>
              <a:gd name="adj" fmla="val 7826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554480"/>
            <a:ext cx="685800" cy="685800"/>
          </a:xfrm>
          <a:prstGeom prst="ellipse">
            <a:avLst/>
          </a:prstGeom>
          <a:solidFill>
            <a:srgbClr val="1F6FEB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54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⚙️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45920" y="148132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그리퍼(6번)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645920" y="190195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열림 0°  /  닫힘 90°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578608"/>
            <a:ext cx="6035040" cy="1051560"/>
          </a:xfrm>
          <a:prstGeom prst="roundRect">
            <a:avLst>
              <a:gd name="adj" fmla="val 7826"/>
            </a:avLst>
          </a:prstGeom>
          <a:solidFill>
            <a:srgbClr val="F2F7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761488"/>
            <a:ext cx="685800" cy="685800"/>
          </a:xfrm>
          <a:prstGeom prst="ellipse">
            <a:avLst/>
          </a:prstGeom>
          <a:solidFill>
            <a:srgbClr val="1F6FEB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76148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↔️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645920" y="2688336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1~5번 서보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645920" y="31089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90°  (0~180°)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3785616"/>
            <a:ext cx="6035040" cy="1051560"/>
          </a:xfrm>
          <a:prstGeom prst="roundRect">
            <a:avLst>
              <a:gd name="adj" fmla="val 7826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3968496"/>
            <a:ext cx="685800" cy="685800"/>
          </a:xfrm>
          <a:prstGeom prst="ellipse">
            <a:avLst/>
          </a:prstGeom>
          <a:solidFill>
            <a:srgbClr val="1F6FEB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3968496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🔘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645920" y="3895344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 버튼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645920" y="431596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조이스틱 SW → 디지털 7번 + GND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48640" y="4992624"/>
            <a:ext cx="6035040" cy="1051560"/>
          </a:xfrm>
          <a:prstGeom prst="roundRect">
            <a:avLst>
              <a:gd name="adj" fmla="val 7826"/>
            </a:avLst>
          </a:prstGeom>
          <a:solidFill>
            <a:srgbClr val="F2F7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5175504"/>
            <a:ext cx="685800" cy="685800"/>
          </a:xfrm>
          <a:prstGeom prst="ellipse">
            <a:avLst/>
          </a:prstGeom>
          <a:solidFill>
            <a:srgbClr val="1F6FEB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" y="5175504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🔌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645920" y="510235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전원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1645920" y="552297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전원 권장 (떨림 방지)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858000" y="1371600"/>
            <a:ext cx="4754880" cy="4828032"/>
          </a:xfrm>
          <a:prstGeom prst="roundRect">
            <a:avLst>
              <a:gd name="adj" fmla="val 1731"/>
            </a:avLst>
          </a:prstGeom>
          <a:solidFill>
            <a:srgbClr val="FFF3EA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132320" y="160020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9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🛡️  안전 수칙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223760" y="2286000"/>
            <a:ext cx="42062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동작 중 관절 사이에 손을 넣지 않기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실행은 MIN/MAX로 가동범위를 좁혀 테스트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전원·GND 연결을 확실히 (공통 접지)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떨림 발생 시 외부 전원부터 점검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4297680"/>
            <a:ext cx="4023360" cy="4023360"/>
          </a:xfrm>
          <a:prstGeom prst="ellipse">
            <a:avLst/>
          </a:prstGeom>
          <a:solidFill>
            <a:srgbClr val="16204A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1F6FEB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200400" y="2148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FA6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1회차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0" y="269748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로봇팔을 내 손으로 움직인다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200400" y="41605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6F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오늘 완성하는 것 :  조종 가능한 로봇팔 + 관절 지도 완성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22960" cy="822960"/>
          </a:xfrm>
          <a:prstGeom prst="ellipse">
            <a:avLst/>
          </a:prstGeom>
          <a:solidFill>
            <a:srgbClr val="1F6FEB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365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54480" y="384048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로봇팔을 내 손으로 움직인다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32688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04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577840" cy="1234440"/>
          </a:xfrm>
          <a:prstGeom prst="roundRect">
            <a:avLst>
              <a:gd name="adj" fmla="val 6667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53619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🎯  학습목표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1938528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관절 구조와 서보의 역할을 이해하고 정밀 조작의 감을 잡는다.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5577840" cy="1234440"/>
          </a:xfrm>
          <a:prstGeom prst="roundRect">
            <a:avLst>
              <a:gd name="adj" fmla="val 6667"/>
            </a:avLst>
          </a:prstGeom>
          <a:solidFill>
            <a:srgbClr val="E9F5EC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90779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🧭  진로 연결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3310128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로봇 하드웨어 엔지니어 — 로봇을 만들고 정비하는 사람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577840" cy="2057400"/>
          </a:xfrm>
          <a:prstGeom prst="roundRect">
            <a:avLst>
              <a:gd name="adj" fmla="val 4000"/>
            </a:avLst>
          </a:prstGeom>
          <a:solidFill>
            <a:srgbClr val="FFF3EA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431596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59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🏆  도전 미션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77240" y="480060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워밍업 게임 — 30초 안에 그리퍼로 목표 지점 터치! + 컵 옮기기 타임어택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492240" y="14173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⏱  2시간 활동 흐름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92240" y="2011680"/>
            <a:ext cx="5120640" cy="713232"/>
          </a:xfrm>
          <a:prstGeom prst="roundRect">
            <a:avLst>
              <a:gd name="adj" fmla="val 11538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75120" y="2157984"/>
            <a:ext cx="1051560" cy="420624"/>
          </a:xfrm>
          <a:prstGeom prst="roundRect">
            <a:avLst>
              <a:gd name="adj" fmla="val 13043"/>
            </a:avLst>
          </a:prstGeom>
          <a:solidFill>
            <a:srgbClr val="1F6FEB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2157984"/>
            <a:ext cx="1051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0–15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909560" y="2011680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오프닝 · 진로 훅 (완성 미리보기)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92240" y="2852928"/>
            <a:ext cx="5120640" cy="713232"/>
          </a:xfrm>
          <a:prstGeom prst="roundRect">
            <a:avLst>
              <a:gd name="adj" fmla="val 11538"/>
            </a:avLst>
          </a:prstGeom>
          <a:solidFill>
            <a:srgbClr val="F2F7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75120" y="2999232"/>
            <a:ext cx="1051560" cy="420624"/>
          </a:xfrm>
          <a:prstGeom prst="roundRect">
            <a:avLst>
              <a:gd name="adj" fmla="val 13043"/>
            </a:avLst>
          </a:prstGeom>
          <a:solidFill>
            <a:srgbClr val="1F6FEB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2999232"/>
            <a:ext cx="1051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15–35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909560" y="2852928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 · 배선 + 관절 매핑표 채우기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92240" y="3694176"/>
            <a:ext cx="5120640" cy="713232"/>
          </a:xfrm>
          <a:prstGeom prst="roundRect">
            <a:avLst>
              <a:gd name="adj" fmla="val 11538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675120" y="3840480"/>
            <a:ext cx="1051560" cy="420624"/>
          </a:xfrm>
          <a:prstGeom prst="roundRect">
            <a:avLst>
              <a:gd name="adj" fmla="val 13043"/>
            </a:avLst>
          </a:prstGeom>
          <a:solidFill>
            <a:srgbClr val="1F6FEB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0" y="3840480"/>
            <a:ext cx="1051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35–75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909560" y="3694176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자유 조작 실습 + 워밍업 게임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92240" y="4535424"/>
            <a:ext cx="5120640" cy="713232"/>
          </a:xfrm>
          <a:prstGeom prst="roundRect">
            <a:avLst>
              <a:gd name="adj" fmla="val 11538"/>
            </a:avLst>
          </a:prstGeom>
          <a:solidFill>
            <a:srgbClr val="F2F7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675120" y="4681728"/>
            <a:ext cx="1051560" cy="420624"/>
          </a:xfrm>
          <a:prstGeom prst="roundRect">
            <a:avLst>
              <a:gd name="adj" fmla="val 13043"/>
            </a:avLst>
          </a:prstGeom>
          <a:solidFill>
            <a:srgbClr val="1F6FEB"/>
          </a:solidFill>
          <a:ln/>
        </p:spPr>
      </p:sp>
      <p:sp>
        <p:nvSpPr>
          <p:cNvPr id="30" name="Text 28"/>
          <p:cNvSpPr/>
          <p:nvPr/>
        </p:nvSpPr>
        <p:spPr>
          <a:xfrm>
            <a:off x="6675120" y="4681728"/>
            <a:ext cx="1051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75–105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909560" y="4535424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정밀 조작 챌린지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92240" y="5376672"/>
            <a:ext cx="5120640" cy="713232"/>
          </a:xfrm>
          <a:prstGeom prst="roundRect">
            <a:avLst>
              <a:gd name="adj" fmla="val 11538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675120" y="5522976"/>
            <a:ext cx="1051560" cy="420624"/>
          </a:xfrm>
          <a:prstGeom prst="roundRect">
            <a:avLst>
              <a:gd name="adj" fmla="val 13043"/>
            </a:avLst>
          </a:prstGeom>
          <a:solidFill>
            <a:srgbClr val="1F6FEB"/>
          </a:solidFill>
          <a:ln/>
        </p:spPr>
      </p:sp>
      <p:sp>
        <p:nvSpPr>
          <p:cNvPr id="34" name="Text 32"/>
          <p:cNvSpPr/>
          <p:nvPr/>
        </p:nvSpPr>
        <p:spPr>
          <a:xfrm>
            <a:off x="6675120" y="5522976"/>
            <a:ext cx="1051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105–120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909560" y="5376672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 확인 · 성찰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4297680"/>
            <a:ext cx="4023360" cy="4023360"/>
          </a:xfrm>
          <a:prstGeom prst="ellipse">
            <a:avLst/>
          </a:prstGeom>
          <a:solidFill>
            <a:srgbClr val="16204A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1F6FEB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200400" y="2148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FA6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2회차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0" y="269748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코드를 읽고 내 팔로 길들인다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200400" y="41605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6F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오늘 완성하는 것 :  내 팔 전용 안정 홈 자세 세팅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22960" cy="822960"/>
          </a:xfrm>
          <a:prstGeom prst="ellipse">
            <a:avLst/>
          </a:prstGeom>
          <a:solidFill>
            <a:srgbClr val="1F6FEB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365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54480" y="384048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코드를 읽고 내 팔로 길들인다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32688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04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577840" cy="1234440"/>
          </a:xfrm>
          <a:prstGeom prst="roundRect">
            <a:avLst>
              <a:gd name="adj" fmla="val 6667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53619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🎯  학습목표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1938528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구조(setup/loop·핀·각도)를 읽고 값 수정의 영향을 안다.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5577840" cy="1234440"/>
          </a:xfrm>
          <a:prstGeom prst="roundRect">
            <a:avLst>
              <a:gd name="adj" fmla="val 6667"/>
            </a:avLst>
          </a:prstGeom>
          <a:solidFill>
            <a:srgbClr val="E9F5EC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90779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🧭  진로 연결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3310128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제어 · 임베디드 개발자 — 값을 조정해 기계를 최적화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577840" cy="2057400"/>
          </a:xfrm>
          <a:prstGeom prst="roundRect">
            <a:avLst>
              <a:gd name="adj" fmla="val 4000"/>
            </a:avLst>
          </a:prstGeom>
          <a:solidFill>
            <a:srgbClr val="FFF3EA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431596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59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🏆  도전 미션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77240" y="480060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탐정 — delay·MAX·PIN을 바꿔 무슨 일이 나는지 알아내기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492240" y="14173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⏱  2시간 활동 흐름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92240" y="2011680"/>
            <a:ext cx="5120640" cy="713232"/>
          </a:xfrm>
          <a:prstGeom prst="roundRect">
            <a:avLst>
              <a:gd name="adj" fmla="val 11538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75120" y="2157984"/>
            <a:ext cx="1051560" cy="420624"/>
          </a:xfrm>
          <a:prstGeom prst="roundRect">
            <a:avLst>
              <a:gd name="adj" fmla="val 13043"/>
            </a:avLst>
          </a:prstGeom>
          <a:solidFill>
            <a:srgbClr val="1F6FEB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2157984"/>
            <a:ext cx="1051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0–10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909560" y="2011680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복습 · 오늘 완성물 예고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92240" y="2852928"/>
            <a:ext cx="5120640" cy="713232"/>
          </a:xfrm>
          <a:prstGeom prst="roundRect">
            <a:avLst>
              <a:gd name="adj" fmla="val 11538"/>
            </a:avLst>
          </a:prstGeom>
          <a:solidFill>
            <a:srgbClr val="F2F7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75120" y="2999232"/>
            <a:ext cx="1051560" cy="420624"/>
          </a:xfrm>
          <a:prstGeom prst="roundRect">
            <a:avLst>
              <a:gd name="adj" fmla="val 13043"/>
            </a:avLst>
          </a:prstGeom>
          <a:solidFill>
            <a:srgbClr val="1F6FEB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2999232"/>
            <a:ext cx="1051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10–35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909560" y="2852928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해석표 (값 찾기)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92240" y="3694176"/>
            <a:ext cx="5120640" cy="713232"/>
          </a:xfrm>
          <a:prstGeom prst="roundRect">
            <a:avLst>
              <a:gd name="adj" fmla="val 11538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675120" y="3840480"/>
            <a:ext cx="1051560" cy="420624"/>
          </a:xfrm>
          <a:prstGeom prst="roundRect">
            <a:avLst>
              <a:gd name="adj" fmla="val 13043"/>
            </a:avLst>
          </a:prstGeom>
          <a:solidFill>
            <a:srgbClr val="1F6FEB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0" y="3840480"/>
            <a:ext cx="1051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35–65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909560" y="3694176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탐정 실험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92240" y="4535424"/>
            <a:ext cx="5120640" cy="713232"/>
          </a:xfrm>
          <a:prstGeom prst="roundRect">
            <a:avLst>
              <a:gd name="adj" fmla="val 11538"/>
            </a:avLst>
          </a:prstGeom>
          <a:solidFill>
            <a:srgbClr val="F2F7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675120" y="4681728"/>
            <a:ext cx="1051560" cy="420624"/>
          </a:xfrm>
          <a:prstGeom prst="roundRect">
            <a:avLst>
              <a:gd name="adj" fmla="val 13043"/>
            </a:avLst>
          </a:prstGeom>
          <a:solidFill>
            <a:srgbClr val="1F6FEB"/>
          </a:solidFill>
          <a:ln/>
        </p:spPr>
      </p:sp>
      <p:sp>
        <p:nvSpPr>
          <p:cNvPr id="30" name="Text 28"/>
          <p:cNvSpPr/>
          <p:nvPr/>
        </p:nvSpPr>
        <p:spPr>
          <a:xfrm>
            <a:off x="6675120" y="4681728"/>
            <a:ext cx="1051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65–100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909560" y="4535424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 포지션 만들기 (초기각 수정)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92240" y="5376672"/>
            <a:ext cx="5120640" cy="713232"/>
          </a:xfrm>
          <a:prstGeom prst="roundRect">
            <a:avLst>
              <a:gd name="adj" fmla="val 11538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675120" y="5522976"/>
            <a:ext cx="1051560" cy="420624"/>
          </a:xfrm>
          <a:prstGeom prst="roundRect">
            <a:avLst>
              <a:gd name="adj" fmla="val 13043"/>
            </a:avLst>
          </a:prstGeom>
          <a:solidFill>
            <a:srgbClr val="1F6FEB"/>
          </a:solidFill>
          <a:ln/>
        </p:spPr>
      </p:sp>
      <p:sp>
        <p:nvSpPr>
          <p:cNvPr id="34" name="Text 32"/>
          <p:cNvSpPr/>
          <p:nvPr/>
        </p:nvSpPr>
        <p:spPr>
          <a:xfrm>
            <a:off x="6675120" y="5522976"/>
            <a:ext cx="1051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100–120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909560" y="5376672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안정성 점검 · 진로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4297680"/>
            <a:ext cx="4023360" cy="4023360"/>
          </a:xfrm>
          <a:prstGeom prst="ellipse">
            <a:avLst/>
          </a:prstGeom>
          <a:solidFill>
            <a:srgbClr val="16204A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1F6FEB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200400" y="2148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FA6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3회차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0" y="269748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물건을 집어 옮긴다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200400" y="41605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6F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오늘 완성하는 것 :  수동 Pick &amp; Place 성공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22960" cy="822960"/>
          </a:xfrm>
          <a:prstGeom prst="ellipse">
            <a:avLst/>
          </a:prstGeom>
          <a:solidFill>
            <a:srgbClr val="1F6FEB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365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54480" y="384048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물건을 집어 옮긴다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32688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04·07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577840" cy="1234440"/>
          </a:xfrm>
          <a:prstGeom prst="roundRect">
            <a:avLst>
              <a:gd name="adj" fmla="val 6667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53619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🎯  학습목표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1938528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그리퍼 각도를 조절하고, 작업을 순서로 분해한다.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5577840" cy="1234440"/>
          </a:xfrm>
          <a:prstGeom prst="roundRect">
            <a:avLst>
              <a:gd name="adj" fmla="val 6667"/>
            </a:avLst>
          </a:prstGeom>
          <a:solidFill>
            <a:srgbClr val="E9F5EC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90779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🧭  진로 연결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3310128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물류 자동화 · 스마트팩토리 — 집고 옮기는 공정 설계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577840" cy="2057400"/>
          </a:xfrm>
          <a:prstGeom prst="roundRect">
            <a:avLst>
              <a:gd name="adj" fmla="val 4000"/>
            </a:avLst>
          </a:prstGeom>
          <a:solidFill>
            <a:srgbClr val="FFF3EA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431596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59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🏆  도전 미션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77240" y="480060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택배 분류 타임어택 — A구역 → B구역, 가장 빠르고 정확하게!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492240" y="14173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⏱  2시간 활동 흐름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92240" y="2011680"/>
            <a:ext cx="5120640" cy="713232"/>
          </a:xfrm>
          <a:prstGeom prst="roundRect">
            <a:avLst>
              <a:gd name="adj" fmla="val 11538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75120" y="2157984"/>
            <a:ext cx="1051560" cy="420624"/>
          </a:xfrm>
          <a:prstGeom prst="roundRect">
            <a:avLst>
              <a:gd name="adj" fmla="val 13043"/>
            </a:avLst>
          </a:prstGeom>
          <a:solidFill>
            <a:srgbClr val="1F6FEB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2157984"/>
            <a:ext cx="1051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0–10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909560" y="2011680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복습 · 예고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92240" y="2852928"/>
            <a:ext cx="5120640" cy="713232"/>
          </a:xfrm>
          <a:prstGeom prst="roundRect">
            <a:avLst>
              <a:gd name="adj" fmla="val 11538"/>
            </a:avLst>
          </a:prstGeom>
          <a:solidFill>
            <a:srgbClr val="F2F7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75120" y="2999232"/>
            <a:ext cx="1051560" cy="420624"/>
          </a:xfrm>
          <a:prstGeom prst="roundRect">
            <a:avLst>
              <a:gd name="adj" fmla="val 13043"/>
            </a:avLst>
          </a:prstGeom>
          <a:solidFill>
            <a:srgbClr val="1F6FEB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2999232"/>
            <a:ext cx="1051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10–40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909560" y="2852928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그리퍼 장인 (물체별 집기 실험)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92240" y="3694176"/>
            <a:ext cx="5120640" cy="713232"/>
          </a:xfrm>
          <a:prstGeom prst="roundRect">
            <a:avLst>
              <a:gd name="adj" fmla="val 11538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675120" y="3840480"/>
            <a:ext cx="1051560" cy="420624"/>
          </a:xfrm>
          <a:prstGeom prst="roundRect">
            <a:avLst>
              <a:gd name="adj" fmla="val 13043"/>
            </a:avLst>
          </a:prstGeom>
          <a:solidFill>
            <a:srgbClr val="1F6FEB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0" y="3840480"/>
            <a:ext cx="1051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40–70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909560" y="3694176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순서 설계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92240" y="4535424"/>
            <a:ext cx="5120640" cy="713232"/>
          </a:xfrm>
          <a:prstGeom prst="roundRect">
            <a:avLst>
              <a:gd name="adj" fmla="val 11538"/>
            </a:avLst>
          </a:prstGeom>
          <a:solidFill>
            <a:srgbClr val="F2F7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675120" y="4681728"/>
            <a:ext cx="1051560" cy="420624"/>
          </a:xfrm>
          <a:prstGeom prst="roundRect">
            <a:avLst>
              <a:gd name="adj" fmla="val 13043"/>
            </a:avLst>
          </a:prstGeom>
          <a:solidFill>
            <a:srgbClr val="1F6FEB"/>
          </a:solidFill>
          <a:ln/>
        </p:spPr>
      </p:sp>
      <p:sp>
        <p:nvSpPr>
          <p:cNvPr id="30" name="Text 28"/>
          <p:cNvSpPr/>
          <p:nvPr/>
        </p:nvSpPr>
        <p:spPr>
          <a:xfrm>
            <a:off x="6675120" y="4681728"/>
            <a:ext cx="1051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70–105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909560" y="4535424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택배 분류 타임어택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92240" y="5376672"/>
            <a:ext cx="5120640" cy="713232"/>
          </a:xfrm>
          <a:prstGeom prst="roundRect">
            <a:avLst>
              <a:gd name="adj" fmla="val 11538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675120" y="5522976"/>
            <a:ext cx="1051560" cy="420624"/>
          </a:xfrm>
          <a:prstGeom prst="roundRect">
            <a:avLst>
              <a:gd name="adj" fmla="val 13043"/>
            </a:avLst>
          </a:prstGeom>
          <a:solidFill>
            <a:srgbClr val="1F6FEB"/>
          </a:solidFill>
          <a:ln/>
        </p:spPr>
      </p:sp>
      <p:sp>
        <p:nvSpPr>
          <p:cNvPr id="34" name="Text 32"/>
          <p:cNvSpPr/>
          <p:nvPr/>
        </p:nvSpPr>
        <p:spPr>
          <a:xfrm>
            <a:off x="6675120" y="5522976"/>
            <a:ext cx="1051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105–120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909560" y="5376672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 확인 · 진로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4297680"/>
            <a:ext cx="4023360" cy="4023360"/>
          </a:xfrm>
          <a:prstGeom prst="ellipse">
            <a:avLst/>
          </a:prstGeom>
          <a:solidFill>
            <a:srgbClr val="16204A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1F6FEB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200400" y="2148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FA6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4회차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0" y="269748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로봇과 대화하고 자세를 기록한다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200400" y="41605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6F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오늘 완성하는 것 :  나만의 포즈 데이터 (HOME/PICK/PLACE)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22960" cy="822960"/>
          </a:xfrm>
          <a:prstGeom prst="ellipse">
            <a:avLst/>
          </a:prstGeom>
          <a:solidFill>
            <a:srgbClr val="1F6FEB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365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54480" y="384048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로봇과 대화하고 자세를 기록한다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32688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07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577840" cy="1234440"/>
          </a:xfrm>
          <a:prstGeom prst="roundRect">
            <a:avLst>
              <a:gd name="adj" fmla="val 6667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53619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🎯  학습목표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1938528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시리얼 통신을 이해하고 동작을 '숫자(데이터)'로 기록한다.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5577840" cy="1234440"/>
          </a:xfrm>
          <a:prstGeom prst="roundRect">
            <a:avLst>
              <a:gd name="adj" fmla="val 6667"/>
            </a:avLst>
          </a:prstGeom>
          <a:solidFill>
            <a:srgbClr val="E9F5EC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90779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🧭  진로 연결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3310128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로봇 티칭 · 데이터 — 로봇에게 자세를 가르치는 작업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577840" cy="2057400"/>
          </a:xfrm>
          <a:prstGeom prst="roundRect">
            <a:avLst>
              <a:gd name="adj" fmla="val 4000"/>
            </a:avLst>
          </a:prstGeom>
          <a:solidFill>
            <a:srgbClr val="FFF3EA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431596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59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🏆  도전 미션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77240" y="480060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자세 사진사 — 멋진 포즈를 각도값으로 캡처해 친구와 교환·재현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492240" y="14173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⏱  2시간 활동 흐름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92240" y="2011680"/>
            <a:ext cx="5120640" cy="713232"/>
          </a:xfrm>
          <a:prstGeom prst="roundRect">
            <a:avLst>
              <a:gd name="adj" fmla="val 11538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75120" y="2157984"/>
            <a:ext cx="1051560" cy="420624"/>
          </a:xfrm>
          <a:prstGeom prst="roundRect">
            <a:avLst>
              <a:gd name="adj" fmla="val 13043"/>
            </a:avLst>
          </a:prstGeom>
          <a:solidFill>
            <a:srgbClr val="1F6FEB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2157984"/>
            <a:ext cx="1051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0–10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909560" y="2011680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복습 · 예고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92240" y="2852928"/>
            <a:ext cx="5120640" cy="713232"/>
          </a:xfrm>
          <a:prstGeom prst="roundRect">
            <a:avLst>
              <a:gd name="adj" fmla="val 11538"/>
            </a:avLst>
          </a:prstGeom>
          <a:solidFill>
            <a:srgbClr val="F2F7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75120" y="2999232"/>
            <a:ext cx="1051560" cy="420624"/>
          </a:xfrm>
          <a:prstGeom prst="roundRect">
            <a:avLst>
              <a:gd name="adj" fmla="val 13043"/>
            </a:avLst>
          </a:prstGeom>
          <a:solidFill>
            <a:srgbClr val="1F6FEB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2999232"/>
            <a:ext cx="1051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10–35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909560" y="2852928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Serial 추가 · 각도 읽기(p)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92240" y="3694176"/>
            <a:ext cx="5120640" cy="713232"/>
          </a:xfrm>
          <a:prstGeom prst="roundRect">
            <a:avLst>
              <a:gd name="adj" fmla="val 11538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675120" y="3840480"/>
            <a:ext cx="1051560" cy="420624"/>
          </a:xfrm>
          <a:prstGeom prst="roundRect">
            <a:avLst>
              <a:gd name="adj" fmla="val 13043"/>
            </a:avLst>
          </a:prstGeom>
          <a:solidFill>
            <a:srgbClr val="1F6FEB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0" y="3840480"/>
            <a:ext cx="1051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35–65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909560" y="3694176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자세 사진사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92240" y="4535424"/>
            <a:ext cx="5120640" cy="713232"/>
          </a:xfrm>
          <a:prstGeom prst="roundRect">
            <a:avLst>
              <a:gd name="adj" fmla="val 11538"/>
            </a:avLst>
          </a:prstGeom>
          <a:solidFill>
            <a:srgbClr val="F2F7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675120" y="4681728"/>
            <a:ext cx="1051560" cy="420624"/>
          </a:xfrm>
          <a:prstGeom prst="roundRect">
            <a:avLst>
              <a:gd name="adj" fmla="val 13043"/>
            </a:avLst>
          </a:prstGeom>
          <a:solidFill>
            <a:srgbClr val="1F6FEB"/>
          </a:solidFill>
          <a:ln/>
        </p:spPr>
      </p:sp>
      <p:sp>
        <p:nvSpPr>
          <p:cNvPr id="30" name="Text 28"/>
          <p:cNvSpPr/>
          <p:nvPr/>
        </p:nvSpPr>
        <p:spPr>
          <a:xfrm>
            <a:off x="6675120" y="4681728"/>
            <a:ext cx="1051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65–105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909560" y="4535424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포즈 카드 완성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92240" y="5376672"/>
            <a:ext cx="5120640" cy="713232"/>
          </a:xfrm>
          <a:prstGeom prst="roundRect">
            <a:avLst>
              <a:gd name="adj" fmla="val 11538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675120" y="5522976"/>
            <a:ext cx="1051560" cy="420624"/>
          </a:xfrm>
          <a:prstGeom prst="roundRect">
            <a:avLst>
              <a:gd name="adj" fmla="val 13043"/>
            </a:avLst>
          </a:prstGeom>
          <a:solidFill>
            <a:srgbClr val="1F6FEB"/>
          </a:solidFill>
          <a:ln/>
        </p:spPr>
      </p:sp>
      <p:sp>
        <p:nvSpPr>
          <p:cNvPr id="34" name="Text 32"/>
          <p:cNvSpPr/>
          <p:nvPr/>
        </p:nvSpPr>
        <p:spPr>
          <a:xfrm>
            <a:off x="6675120" y="5522976"/>
            <a:ext cx="1051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105–120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909560" y="5376672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재현성 확인 · 진로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4297680"/>
            <a:ext cx="4023360" cy="4023360"/>
          </a:xfrm>
          <a:prstGeom prst="ellipse">
            <a:avLst/>
          </a:prstGeom>
          <a:solidFill>
            <a:srgbClr val="16204A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76F23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200400" y="2148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FA6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절정  ·  5회차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0" y="269748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함수로 자동화한다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200400" y="41605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6F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오늘 완성하는 것 :  버튼 한 번에 자동 동작 완성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22960" cy="822960"/>
          </a:xfrm>
          <a:prstGeom prst="ellipse">
            <a:avLst/>
          </a:prstGeom>
          <a:solidFill>
            <a:srgbClr val="E76F23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365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54480" y="384048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함수로 자동화한다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32688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08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577840" cy="1234440"/>
          </a:xfrm>
          <a:prstGeom prst="roundRect">
            <a:avLst>
              <a:gd name="adj" fmla="val 6667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53619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🎯  학습목표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1938528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함수·매개변수·재사용을 이해하고 함수 합성으로 자동화한다.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5577840" cy="1234440"/>
          </a:xfrm>
          <a:prstGeom prst="roundRect">
            <a:avLst>
              <a:gd name="adj" fmla="val 6667"/>
            </a:avLst>
          </a:prstGeom>
          <a:solidFill>
            <a:srgbClr val="E9F5EC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90779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🧭  진로 연결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3310128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자동화 엔지니어 — 반복노동을 코드로 대체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577840" cy="2057400"/>
          </a:xfrm>
          <a:prstGeom prst="roundRect">
            <a:avLst>
              <a:gd name="adj" fmla="val 4000"/>
            </a:avLst>
          </a:prstGeom>
          <a:solidFill>
            <a:srgbClr val="FFF3EA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431596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59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🏆  도전 미션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77240" y="480060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원클릭 공장 — 버튼 한 번에 집기→옮기기→놓기 자동! 10회 성공률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492240" y="14173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⏱  2시간 활동 흐름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92240" y="2011680"/>
            <a:ext cx="5120640" cy="713232"/>
          </a:xfrm>
          <a:prstGeom prst="roundRect">
            <a:avLst>
              <a:gd name="adj" fmla="val 11538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75120" y="2157984"/>
            <a:ext cx="1051560" cy="420624"/>
          </a:xfrm>
          <a:prstGeom prst="roundRect">
            <a:avLst>
              <a:gd name="adj" fmla="val 13043"/>
            </a:avLst>
          </a:prstGeom>
          <a:solidFill>
            <a:srgbClr val="E76F23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2157984"/>
            <a:ext cx="1051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0–10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909560" y="2011680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복습 · 완성물 시연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92240" y="2852928"/>
            <a:ext cx="5120640" cy="713232"/>
          </a:xfrm>
          <a:prstGeom prst="roundRect">
            <a:avLst>
              <a:gd name="adj" fmla="val 11538"/>
            </a:avLst>
          </a:prstGeom>
          <a:solidFill>
            <a:srgbClr val="F2F7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75120" y="2999232"/>
            <a:ext cx="1051560" cy="420624"/>
          </a:xfrm>
          <a:prstGeom prst="roundRect">
            <a:avLst>
              <a:gd name="adj" fmla="val 13043"/>
            </a:avLst>
          </a:prstGeom>
          <a:solidFill>
            <a:srgbClr val="E76F23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2999232"/>
            <a:ext cx="1051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10–40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909560" y="2852928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함수 만들기 (gripper·goHome·moveTo)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92240" y="3694176"/>
            <a:ext cx="5120640" cy="713232"/>
          </a:xfrm>
          <a:prstGeom prst="roundRect">
            <a:avLst>
              <a:gd name="adj" fmla="val 11538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675120" y="3840480"/>
            <a:ext cx="1051560" cy="420624"/>
          </a:xfrm>
          <a:prstGeom prst="roundRect">
            <a:avLst>
              <a:gd name="adj" fmla="val 13043"/>
            </a:avLst>
          </a:prstGeom>
          <a:solidFill>
            <a:srgbClr val="E76F23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0" y="3840480"/>
            <a:ext cx="1051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40–75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909560" y="3694176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autoPickAndPlace 조립 (시리얼 먼저)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92240" y="4535424"/>
            <a:ext cx="5120640" cy="713232"/>
          </a:xfrm>
          <a:prstGeom prst="roundRect">
            <a:avLst>
              <a:gd name="adj" fmla="val 11538"/>
            </a:avLst>
          </a:prstGeom>
          <a:solidFill>
            <a:srgbClr val="F2F7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675120" y="4681728"/>
            <a:ext cx="1051560" cy="420624"/>
          </a:xfrm>
          <a:prstGeom prst="roundRect">
            <a:avLst>
              <a:gd name="adj" fmla="val 13043"/>
            </a:avLst>
          </a:prstGeom>
          <a:solidFill>
            <a:srgbClr val="E76F23"/>
          </a:solidFill>
          <a:ln/>
        </p:spPr>
      </p:sp>
      <p:sp>
        <p:nvSpPr>
          <p:cNvPr id="30" name="Text 28"/>
          <p:cNvSpPr/>
          <p:nvPr/>
        </p:nvSpPr>
        <p:spPr>
          <a:xfrm>
            <a:off x="6675120" y="4681728"/>
            <a:ext cx="1051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75–105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909560" y="4535424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버튼 연결 · 원클릭 완성 · 튜닝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92240" y="5376672"/>
            <a:ext cx="5120640" cy="713232"/>
          </a:xfrm>
          <a:prstGeom prst="roundRect">
            <a:avLst>
              <a:gd name="adj" fmla="val 11538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675120" y="5522976"/>
            <a:ext cx="1051560" cy="420624"/>
          </a:xfrm>
          <a:prstGeom prst="roundRect">
            <a:avLst>
              <a:gd name="adj" fmla="val 13043"/>
            </a:avLst>
          </a:prstGeom>
          <a:solidFill>
            <a:srgbClr val="E76F23"/>
          </a:solidFill>
          <a:ln/>
        </p:spPr>
      </p:sp>
      <p:sp>
        <p:nvSpPr>
          <p:cNvPr id="34" name="Text 32"/>
          <p:cNvSpPr/>
          <p:nvPr/>
        </p:nvSpPr>
        <p:spPr>
          <a:xfrm>
            <a:off x="6675120" y="5522976"/>
            <a:ext cx="1051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105–120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909560" y="5376672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 확인 · 진로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4297680"/>
            <a:ext cx="4023360" cy="4023360"/>
          </a:xfrm>
          <a:prstGeom prst="ellipse">
            <a:avLst/>
          </a:prstGeom>
          <a:solidFill>
            <a:srgbClr val="16204A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1F6FEB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200400" y="2148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FA6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6회차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0" y="269748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나만의 미션 &amp; 데모데이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200400" y="41605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6F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오늘 완성하는 것 :  팀 작품 완성 · 시연 + 진로 발표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22960" cy="822960"/>
          </a:xfrm>
          <a:prstGeom prst="ellipse">
            <a:avLst/>
          </a:prstGeom>
          <a:solidFill>
            <a:srgbClr val="1F6FEB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365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54480" y="384048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나만의 미션 &amp; 데모데이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32688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08·09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577840" cy="1234440"/>
          </a:xfrm>
          <a:prstGeom prst="roundRect">
            <a:avLst>
              <a:gd name="adj" fmla="val 6667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53619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🎯  학습목표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1938528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배운 것을 종합해 문제를 정의·해결하고 진로와 연결한다.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5577840" cy="1234440"/>
          </a:xfrm>
          <a:prstGeom prst="roundRect">
            <a:avLst>
              <a:gd name="adj" fmla="val 6667"/>
            </a:avLst>
          </a:prstGeom>
          <a:solidFill>
            <a:srgbClr val="E9F5EC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90779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🧭  진로 연결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3310128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나의 진로 설계 — 내가 없애고 싶은 반복노동은?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577840" cy="2057400"/>
          </a:xfrm>
          <a:prstGeom prst="roundRect">
            <a:avLst>
              <a:gd name="adj" fmla="val 4000"/>
            </a:avLst>
          </a:prstGeom>
          <a:solidFill>
            <a:srgbClr val="FFF3EA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431596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59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🏆  도전 미션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77240" y="480060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미션 자유 설계 → 데모데이 시연 · 촬영 → 진로 발표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492240" y="14173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⏱  2시간 활동 흐름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92240" y="2011680"/>
            <a:ext cx="5120640" cy="713232"/>
          </a:xfrm>
          <a:prstGeom prst="roundRect">
            <a:avLst>
              <a:gd name="adj" fmla="val 11538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75120" y="2157984"/>
            <a:ext cx="1051560" cy="420624"/>
          </a:xfrm>
          <a:prstGeom prst="roundRect">
            <a:avLst>
              <a:gd name="adj" fmla="val 13043"/>
            </a:avLst>
          </a:prstGeom>
          <a:solidFill>
            <a:srgbClr val="1F6FEB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2157984"/>
            <a:ext cx="1051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0–15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909560" y="2011680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미션 선택 · 설계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92240" y="2852928"/>
            <a:ext cx="5120640" cy="713232"/>
          </a:xfrm>
          <a:prstGeom prst="roundRect">
            <a:avLst>
              <a:gd name="adj" fmla="val 11538"/>
            </a:avLst>
          </a:prstGeom>
          <a:solidFill>
            <a:srgbClr val="F2F7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75120" y="2999232"/>
            <a:ext cx="1051560" cy="420624"/>
          </a:xfrm>
          <a:prstGeom prst="roundRect">
            <a:avLst>
              <a:gd name="adj" fmla="val 13043"/>
            </a:avLst>
          </a:prstGeom>
          <a:solidFill>
            <a:srgbClr val="1F6FEB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2999232"/>
            <a:ext cx="1051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15–70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909560" y="2852928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· 반복 튜닝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92240" y="3694176"/>
            <a:ext cx="5120640" cy="713232"/>
          </a:xfrm>
          <a:prstGeom prst="roundRect">
            <a:avLst>
              <a:gd name="adj" fmla="val 11538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675120" y="3840480"/>
            <a:ext cx="1051560" cy="420624"/>
          </a:xfrm>
          <a:prstGeom prst="roundRect">
            <a:avLst>
              <a:gd name="adj" fmla="val 13043"/>
            </a:avLst>
          </a:prstGeom>
          <a:solidFill>
            <a:srgbClr val="1F6FEB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0" y="3840480"/>
            <a:ext cx="1051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70–95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909560" y="3694176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데모데이 (시연 · 촬영)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92240" y="4535424"/>
            <a:ext cx="5120640" cy="713232"/>
          </a:xfrm>
          <a:prstGeom prst="roundRect">
            <a:avLst>
              <a:gd name="adj" fmla="val 11538"/>
            </a:avLst>
          </a:prstGeom>
          <a:solidFill>
            <a:srgbClr val="F2F7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675120" y="4681728"/>
            <a:ext cx="1051560" cy="420624"/>
          </a:xfrm>
          <a:prstGeom prst="roundRect">
            <a:avLst>
              <a:gd name="adj" fmla="val 13043"/>
            </a:avLst>
          </a:prstGeom>
          <a:solidFill>
            <a:srgbClr val="1F6FEB"/>
          </a:solidFill>
          <a:ln/>
        </p:spPr>
      </p:sp>
      <p:sp>
        <p:nvSpPr>
          <p:cNvPr id="30" name="Text 28"/>
          <p:cNvSpPr/>
          <p:nvPr/>
        </p:nvSpPr>
        <p:spPr>
          <a:xfrm>
            <a:off x="6675120" y="4681728"/>
            <a:ext cx="1051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95–115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909560" y="4535424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진로 발표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92240" y="5376672"/>
            <a:ext cx="5120640" cy="713232"/>
          </a:xfrm>
          <a:prstGeom prst="roundRect">
            <a:avLst>
              <a:gd name="adj" fmla="val 11538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675120" y="5522976"/>
            <a:ext cx="1051560" cy="420624"/>
          </a:xfrm>
          <a:prstGeom prst="roundRect">
            <a:avLst>
              <a:gd name="adj" fmla="val 13043"/>
            </a:avLst>
          </a:prstGeom>
          <a:solidFill>
            <a:srgbClr val="1F6FEB"/>
          </a:solidFill>
          <a:ln/>
        </p:spPr>
      </p:sp>
      <p:sp>
        <p:nvSpPr>
          <p:cNvPr id="34" name="Text 32"/>
          <p:cNvSpPr/>
          <p:nvPr/>
        </p:nvSpPr>
        <p:spPr>
          <a:xfrm>
            <a:off x="6675120" y="5522976"/>
            <a:ext cx="1051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115–120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909560" y="5376672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자기평가 · 마무리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6회차 미션 메뉴 — 팀이 고른다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66160" cy="1280160"/>
          </a:xfrm>
          <a:prstGeom prst="roundRect">
            <a:avLst>
              <a:gd name="adj" fmla="val 6429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49808" y="1709928"/>
            <a:ext cx="713232" cy="713232"/>
          </a:xfrm>
          <a:prstGeom prst="ellipse">
            <a:avLst/>
          </a:prstGeom>
          <a:solidFill>
            <a:srgbClr val="1F6FEB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099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🏁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00200" y="141732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스피드런 / 타임어택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343400" y="1417320"/>
            <a:ext cx="3566160" cy="1280160"/>
          </a:xfrm>
          <a:prstGeom prst="roundRect">
            <a:avLst>
              <a:gd name="adj" fmla="val 6429"/>
            </a:avLst>
          </a:prstGeom>
          <a:solidFill>
            <a:srgbClr val="F2F7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44568" y="1709928"/>
            <a:ext cx="713232" cy="713232"/>
          </a:xfrm>
          <a:prstGeom prst="ellipse">
            <a:avLst/>
          </a:prstGeom>
          <a:solidFill>
            <a:srgbClr val="1F6FEB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44568" y="17099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🎯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394960" y="141732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정확도 사격 (칸 넣기)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38160" y="1417320"/>
            <a:ext cx="3566160" cy="1280160"/>
          </a:xfrm>
          <a:prstGeom prst="roundRect">
            <a:avLst>
              <a:gd name="adj" fmla="val 6429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339328" y="1709928"/>
            <a:ext cx="713232" cy="713232"/>
          </a:xfrm>
          <a:prstGeom prst="ellipse">
            <a:avLst/>
          </a:prstGeom>
          <a:solidFill>
            <a:srgbClr val="E76F23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39328" y="17099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🧱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189720" y="141732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블록 타워 / 컵 피라미드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2926080"/>
            <a:ext cx="3566160" cy="1280160"/>
          </a:xfrm>
          <a:prstGeom prst="roundRect">
            <a:avLst>
              <a:gd name="adj" fmla="val 6429"/>
            </a:avLst>
          </a:prstGeom>
          <a:solidFill>
            <a:srgbClr val="F2F7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49808" y="3218688"/>
            <a:ext cx="713232" cy="713232"/>
          </a:xfrm>
          <a:prstGeom prst="ellipse">
            <a:avLst/>
          </a:prstGeom>
          <a:solidFill>
            <a:srgbClr val="1F6FEB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9808" y="321868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🎨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600200" y="292608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색깔·모양 분류 (스마트팩토리)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343400" y="2926080"/>
            <a:ext cx="3566160" cy="1280160"/>
          </a:xfrm>
          <a:prstGeom prst="roundRect">
            <a:avLst>
              <a:gd name="adj" fmla="val 6429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44568" y="3218688"/>
            <a:ext cx="713232" cy="713232"/>
          </a:xfrm>
          <a:prstGeom prst="ellipse">
            <a:avLst/>
          </a:prstGeom>
          <a:solidFill>
            <a:srgbClr val="1F6FEB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44568" y="321868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🥚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394960" y="292608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깨지기 쉬운 화물 운반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138160" y="2926080"/>
            <a:ext cx="3566160" cy="1280160"/>
          </a:xfrm>
          <a:prstGeom prst="roundRect">
            <a:avLst>
              <a:gd name="adj" fmla="val 6429"/>
            </a:avLst>
          </a:prstGeom>
          <a:solidFill>
            <a:srgbClr val="F2F7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339328" y="3218688"/>
            <a:ext cx="713232" cy="713232"/>
          </a:xfrm>
          <a:prstGeom prst="ellipse">
            <a:avLst/>
          </a:prstGeom>
          <a:solidFill>
            <a:srgbClr val="E76F23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339328" y="321868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✒️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189720" y="292608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로봇팔 캘리그래피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48640" y="4434840"/>
            <a:ext cx="3566160" cy="1280160"/>
          </a:xfrm>
          <a:prstGeom prst="roundRect">
            <a:avLst>
              <a:gd name="adj" fmla="val 6429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49808" y="4727448"/>
            <a:ext cx="713232" cy="713232"/>
          </a:xfrm>
          <a:prstGeom prst="ellipse">
            <a:avLst/>
          </a:prstGeom>
          <a:solidFill>
            <a:srgbClr val="1F6FEB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49808" y="472744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🏀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600200" y="443484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미니 농구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4343400" y="4434840"/>
            <a:ext cx="3566160" cy="1280160"/>
          </a:xfrm>
          <a:prstGeom prst="roundRect">
            <a:avLst>
              <a:gd name="adj" fmla="val 6429"/>
            </a:avLst>
          </a:prstGeom>
          <a:solidFill>
            <a:srgbClr val="F2F7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44568" y="4727448"/>
            <a:ext cx="713232" cy="713232"/>
          </a:xfrm>
          <a:prstGeom prst="ellipse">
            <a:avLst/>
          </a:prstGeom>
          <a:solidFill>
            <a:srgbClr val="1F6FEB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544568" y="472744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🔁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5394960" y="443484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 협동 컨베이어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8138160" y="4434840"/>
            <a:ext cx="3566160" cy="1280160"/>
          </a:xfrm>
          <a:prstGeom prst="roundRect">
            <a:avLst>
              <a:gd name="adj" fmla="val 6429"/>
            </a:avLst>
          </a:prstGeom>
          <a:solidFill>
            <a:srgbClr val="EFF5FF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339328" y="4727448"/>
            <a:ext cx="713232" cy="713232"/>
          </a:xfrm>
          <a:prstGeom prst="ellipse">
            <a:avLst/>
          </a:prstGeom>
          <a:solidFill>
            <a:srgbClr val="E76F23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339328" y="472744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💃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9189720" y="443484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로봇팔 군무 (함수 합성)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188720"/>
            <a:ext cx="3657600" cy="3657600"/>
          </a:xfrm>
          <a:prstGeom prst="ellipse">
            <a:avLst/>
          </a:prstGeom>
          <a:solidFill>
            <a:srgbClr val="16204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진로수업을 관통하는 4가지 장치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1691640"/>
          </a:xfrm>
          <a:prstGeom prst="roundRect">
            <a:avLst>
              <a:gd name="adj" fmla="val 4865"/>
            </a:avLst>
          </a:prstGeom>
          <a:solidFill>
            <a:srgbClr val="16204A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78992" y="2286000"/>
            <a:ext cx="777240" cy="777240"/>
          </a:xfrm>
          <a:prstGeom prst="ellipse">
            <a:avLst/>
          </a:prstGeom>
          <a:solidFill>
            <a:srgbClr val="E76F23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78992" y="22860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057400" y="20574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완성의 사다리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057400" y="2606040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매회 '오늘 된 것'을 확인 → 성취감 누적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5120640" cy="1691640"/>
          </a:xfrm>
          <a:prstGeom prst="roundRect">
            <a:avLst>
              <a:gd name="adj" fmla="val 4865"/>
            </a:avLst>
          </a:prstGeom>
          <a:solidFill>
            <a:srgbClr val="16204A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65392" y="2286000"/>
            <a:ext cx="777240" cy="777240"/>
          </a:xfrm>
          <a:prstGeom prst="ellipse">
            <a:avLst/>
          </a:prstGeom>
          <a:solidFill>
            <a:srgbClr val="E76F23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65392" y="22860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543800" y="20574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선택권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543800" y="2606040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미션을 직접 고르고 설계 → 자율성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" y="3794760"/>
            <a:ext cx="5120640" cy="1691640"/>
          </a:xfrm>
          <a:prstGeom prst="roundRect">
            <a:avLst>
              <a:gd name="adj" fmla="val 4865"/>
            </a:avLst>
          </a:prstGeom>
          <a:solidFill>
            <a:srgbClr val="16204A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78992" y="4251960"/>
            <a:ext cx="777240" cy="777240"/>
          </a:xfrm>
          <a:prstGeom prst="ellipse">
            <a:avLst/>
          </a:prstGeom>
          <a:solidFill>
            <a:srgbClr val="E76F23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78992" y="42519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2057400" y="40233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직업 렌즈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057400" y="4572000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매회 '이 활동 = 어떤 어른의 밥벌이?'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309360" y="3794760"/>
            <a:ext cx="5120640" cy="1691640"/>
          </a:xfrm>
          <a:prstGeom prst="roundRect">
            <a:avLst>
              <a:gd name="adj" fmla="val 4865"/>
            </a:avLst>
          </a:prstGeom>
          <a:solidFill>
            <a:srgbClr val="16204A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65392" y="4251960"/>
            <a:ext cx="777240" cy="777240"/>
          </a:xfrm>
          <a:prstGeom prst="ellipse">
            <a:avLst/>
          </a:prstGeom>
          <a:solidFill>
            <a:srgbClr val="E76F23"/>
          </a:solidFill>
          <a:ln/>
          <a:effectLst>
            <a:outerShdw sx="100000" sy="100000" kx="0" ky="0" algn="bl" rotWithShape="0" blurRad="101600" dist="38100" dir="5400000">
              <a:srgbClr val="9AB0D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65392" y="42519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543800" y="40233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기록의 자산화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543800" y="4572000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= 진로 포트폴리오 · 생기부 근거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6F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완성품을 보여주지 말고, 하나씩 완성하게 하라.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2026-07-28T03:10:12Z</dcterms:created>
  <dcterms:modified xsi:type="dcterms:W3CDTF">2026-07-28T03:10:12Z</dcterms:modified>
</cp:coreProperties>
</file>