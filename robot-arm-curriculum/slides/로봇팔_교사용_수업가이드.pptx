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1280160" cy="128016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777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37744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교사용 수업 진행 가이드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아두이노 6자유도 로봇팔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구획 이해 · 함수 만들기 · 활동지 12단계 지도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충남교육청 진로융합교육원 · bridgE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전체 흐름 — 12단계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'하나씩 완성해 가는' 성취의 사다리로 이어집니다.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83080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 깨우기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03704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awake robot Arm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783080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06824" y="17647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해부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06824" y="2203704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Dissection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7648" y="1600200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783080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96328" y="17647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조이스틱 마스터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96328" y="2203704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Joystick Master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17152" y="1600200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1783080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63456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85832" y="17647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포지션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85832" y="2203704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 Position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916936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3099816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17320" y="308152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 장인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35204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gripper craftsman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38144" y="2916936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84448" y="3099816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84448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306824" y="308152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 (Serial)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6824" y="35204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Talking to a Robot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27648" y="2916936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3099816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73952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196328" y="308152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 앤 플레이스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96328" y="35204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Pick &amp; Place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17152" y="2916936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63456" y="3099816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363456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0085832" y="308152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포즈 레시피북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85832" y="35204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Posture Recipe Book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233672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" y="4416552"/>
            <a:ext cx="658368" cy="658368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4944" y="4416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417320" y="4398264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만들기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417320" y="4837176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a function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438144" y="4233672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584448" y="4416552"/>
            <a:ext cx="658368" cy="658368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84448" y="4416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4306824" y="4398264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픽 앤 플레이스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306824" y="4837176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Automatic Pick &amp; Place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27648" y="4233672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73952" y="4416552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73952" y="4416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196328" y="4398264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미션 설계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196328" y="4837176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Mission Design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217152" y="4233672"/>
            <a:ext cx="2761488" cy="1170432"/>
          </a:xfrm>
          <a:prstGeom prst="roundRect">
            <a:avLst>
              <a:gd name="adj" fmla="val 7031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363456" y="4416552"/>
            <a:ext cx="658368" cy="658368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363456" y="44165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10085832" y="4398264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데모데이 &amp; 진로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0085832" y="4837176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&amp; Career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심화: group dance mission (함수 나눠 군무)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이해 ① — 코드는 '3덩어리'다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코드도 이 세 부분만 알면 읽힌다.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74520" y="2148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구역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· 변수(배열)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로봇팔이 쓸 재료를 미리 꺼내 둔다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914400" cy="914400"/>
          </a:xfrm>
          <a:prstGeom prst="ellipse">
            <a:avLst/>
          </a:prstGeom>
          <a:solidFill>
            <a:srgbClr val="2E7D46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0" y="2148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setup()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· 각도 설정 (딱 한 번)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1148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켜면 한 번만 실행되는 초기 설정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011680"/>
            <a:ext cx="914400" cy="91440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464040" y="2148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loop()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12480" y="31546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조이스틱 → 각도 → write (계속)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41148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쉬지 않고 반복되는 로봇팔의 실제 동작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이해 ② — ① 준비 구역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서보의 정보를 '배열'로 한 줄에 묶어 관리한다.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10182E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&lt;Servo.h&gt;   // 서보 도구상자 불러오기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SERVOS = 6;   // 관절(서보) 개수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PIN[SERVOS];        // 각 서보의 핀 번호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MIN[SERVOS], MAX[SERVOS];   // 안전 각도범위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INITANGLE[SERVOS];  // 시작 각도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ANA[SERVOS];        // 조이스틱 번호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myservo[SERVOS];  // 서보 6개 (실제 모터)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4297680"/>
          </a:xfrm>
          <a:prstGeom prst="roundRect">
            <a:avLst>
              <a:gd name="adj" fmla="val 1915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왜 배열을 쓸까?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0" y="24688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변수를 6벌 만드는 대신 [ ]로 한 줄에 묶는다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for문으로 6개를 한 번에 처리 → 코드가 짧아짐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 바꾸면 6축 전체에 반영 (수정 쉬움)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이해 ③ — ② setup() 설정 구역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/ 최소·최대각 / 시작각 / 조이스틱 번호를 정한다 (딱 한 번).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10182E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핀  최소 최대 시작 조이스틱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setServo(0, 2, 0, 180, 90, 0); // 1번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setServo(1, 3, 0, 180, 90, 1); // 2번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setServo(5, 5, 0,  90, 45, 5); // 그리퍼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i&lt;SERVOS; i++){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myservo[i].attach(PIN[i]);   // 핀 연결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myservo[i].write(INITANGLE[i]); // 시작각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4297680"/>
          </a:xfrm>
          <a:prstGeom prst="roundRect">
            <a:avLst>
              <a:gd name="adj" fmla="val 1915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 꼭 짚을 점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0" y="24688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setup은 전원 켤 때 '한 번만' 실행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attach = 서보를 그 핀에 연결하는 것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MIN/MAX = 로봇팔을 지키는 안전 범위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그리퍼(6번)만 0~90° (열림0·닫힘90)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이해 ④ — ③ loop() 동작 구역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한 줄: 조이스틱을 읽어 → 각도 +1/−1 → 서보에 쓴다.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10182E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analogRead(ANA[i]); // 조이스틱(0~1023)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(value &gt; 612) {          // 한쪽으로 밀면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currentAngle++;          //   각도 +1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myservo[i].write(currentAngle);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(value &lt; 412) {     // 반대로 밀면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currentAngle--;          //   각도 -1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myservo[i].write(currentAngle);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412~612 사이는 '멈춤'(데드존)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4297680"/>
          </a:xfrm>
          <a:prstGeom prst="roundRect">
            <a:avLst>
              <a:gd name="adj" fmla="val 1915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🎮  발문 포인트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0" y="24688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612 / 412는 무엇일까? → 중립 구간 경계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조금씩(+1/−1)? → 부드럽고 안정적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delay(50)을 줄이면? → 더 빠르게(거칠게)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loop는 1초에 수십 번 반복된다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만들기 — 어디에, 어떻게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동작 덩어리에 '이름'을 붙인 것이 함수. loop() 바깥에 만든다.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10182E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loop() '바깥' (파일 아래쪽)에 만든다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gripperOpen()  { myservo[5].write(0); }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gripperClose() { myservo[5].write(90); }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goHome() {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for(int i=0;i&lt;SERVOS;i++)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myservo[i].write(INITANGLE[i]);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부를 때:  goHome();  gripperClose();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4297680"/>
          </a:xfrm>
          <a:prstGeom prst="roundRect">
            <a:avLst>
              <a:gd name="adj" fmla="val 1915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 만드는 3요소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0" y="24688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이름  ② void(돌려줄 값 없음)  ③ { 할 일 }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어디에? → loop() 바깥, 파일 아래쪽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쓰나? → 어디서든 이름(); 한 줄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함수들을 '순서대로' 부르면 = 자동화!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·  awake robot Arm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 깨우기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서보 = 6개 관절, 서보가 '각도'를 만든다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전원·GND 연결이 안정 동작의 기본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안에 조이스틱으로 그리퍼를 '목표 지점' 터치!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관절 매핑표를 함께 채우며 '어느 서보가 어디를?' 확인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·  Code Dissection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해부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3덩어리 — 준비 · setup · loop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핀·시작각·조건문(612/412)을 코드에서 찾기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일부러 바꿔 무슨 일이 나는지 알아내기(코드 탐정)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값 바꾸면?' 먼저 예측 → 실험 → 되돌리기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 ·  Joystick Master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조이스틱 마스터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크게 움직이면 흔들림 → 조금씩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제어의 감을 잡는다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타워 높이 / 컵 옮기기 타임어택 — 팀 최고기록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기록판 + 안정 조작 '나만의 요령' 공유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 ·  Home 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포지션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INITANGLE = 전원 켤 때의 자세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— 갑자기 크게 튀지 않는 안정 자세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1mm 챌린지 — 매번 같은 점에 펜 끝 닿기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초기각을 직접 수정하고 안정성 점검표로 확인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 ·  gripper craftsman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 장인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그리퍼: 열림 0° / 닫힘 90°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힘·각도 조절로 섬세하게 집기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마시멜로·종이컵을 안 터뜨리고 옮기기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물체별 각도 기록, '왜 어려운가' 토론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 ·  Talking to a Robot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 (Serial)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Serial 추가 → 'p'로 현재 각도 읽기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동작을 '숫자(데이터)'로 남긴다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사진사 — 멋진 포즈를 각도값으로 캡처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각도값 교환 → 똑같이 재현해 보기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  ·  Pick &amp; Place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 앤 플레이스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작업을 순서로 분해: 집기→들기→이동→놓기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설계가 자동화의 씨앗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분류 타임어택 — A→B 가장 빠르고 정확하게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순서 설계표를 먼저 그리고 실행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  ·  Posture Recipe Book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포즈 레시피북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자세 = 각도 데이터 = 자동화 재료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 / PICK / PLACE 포즈 카드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포즈 카드 완성 → 다음 시간 '자동화'의 재료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값 다시 넣으면 재현되는지 점검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9  ·  Create a function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만들기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덩어리에 '이름' 붙이기 = 함수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loop() 바깥에 만들고 이름()으로 부른다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gripperOpen/Close → goHome → 나만의 함수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전(복붙) vs 후 코드 비교 → 왜 편한가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10  ·  Automatic Pick &amp; Place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픽 앤 플레이스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함수를 '순서대로' 부르면 자동화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버튼(조이스틱 SW, 디지털 7번) 한 번에 실행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 공장 — 10회 중 성공률 도전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흐름도 작성, 실패 시 어떤 값을 조정할지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11  ·  Final Mission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미션 설계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 종합 → 문제 정의·설계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테스트로 성공률 높이기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미션 자유 설계(분류·피라미드·도미노·군무…)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미션이 어떤 산업 사례와 닮았나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68680" cy="868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12  ·  Demo &amp; Career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78638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데모데이 &amp; 진로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47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🧑‍🏫  이 단계에서 설명할 것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시연·상호 관람·촬영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활동을 진로와 연결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미션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803904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데모데이 + 우리 로봇팔의 '직업' 발표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21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🙋  참여·발문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651760" y="5221224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'내가 없애고 싶은 반복노동은?' 진로 발문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38912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1097280" cy="109728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685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488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group dance mission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240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함수를 나눠 군무 완성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288036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학생마다 동작 함수를 하나씩 맡아 만든다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moveTimed(포즈, BEAT)로 '한 박자'에 이동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팀이 같은 BEAT → 박자가 맞는 군무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'3·2·1!'에 동시 시작 (또는 공통 버튼)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10182E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1488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waveHand(){ moveTimed(WAVE_L,BEAT);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moveTimed(WAVE_R,BEAT); }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routine(){    // 팀이 합치는 안무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waveHand();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twist();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bow();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188720"/>
            <a:ext cx="3657600" cy="365760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이끄는 4가지 원칙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28600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57400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완성의 사다리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57400" y="263347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단계 '오늘 된 것'을 확인 → 성취감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28600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543800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→ 실험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43800" y="263347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바꾸기 전에 먼저 예측하게 한다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25196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8992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57400" y="4050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렌즈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57400" y="459943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활동 = 어떤 어른의 밥벌이? 매번 연결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425196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5392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43800" y="4050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자산화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543800" y="4599432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= 진로 포트폴리오 · 생기부 근거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보여주지 말고, 하나씩 완성하게 하라.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2026-07-21T12:34:44Z</dcterms:created>
  <dcterms:modified xsi:type="dcterms:W3CDTF">2026-07-21T12:34:44Z</dcterms:modified>
</cp:coreProperties>
</file>